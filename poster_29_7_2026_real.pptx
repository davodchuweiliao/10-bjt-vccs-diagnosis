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F6F9"/>
    <a:srgbClr val="AEBBF4"/>
    <a:srgbClr val="A7B7FB"/>
    <a:srgbClr val="F2F6FE"/>
    <a:srgbClr val="ECF0F4"/>
    <a:srgbClr val="FCFDFE"/>
    <a:srgbClr val="B5C4D7"/>
    <a:srgbClr val="FFFFFF"/>
    <a:srgbClr val="E8FBFC"/>
    <a:srgbClr val="B7DE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113" autoAdjust="0"/>
    <p:restoredTop sz="90929"/>
  </p:normalViewPr>
  <p:slideViewPr>
    <p:cSldViewPr>
      <p:cViewPr>
        <p:scale>
          <a:sx n="33" d="100"/>
          <a:sy n="33" d="100"/>
        </p:scale>
        <p:origin x="1110" y="-984"/>
      </p:cViewPr>
      <p:guideLst>
        <p:guide orient="horz" pos="10368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4EBCC-BC17-629D-F5CC-E70271E5E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975"/>
            <a:ext cx="32918400" cy="114601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0FC404-1F8C-4E92-A182-3EB819A39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463"/>
            <a:ext cx="32918400" cy="79486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7FF650-D79B-4C18-08D2-3ED4F0BA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0C1CE4-CD37-6AD3-4BA5-7E33B786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DAB0FC-34EA-8BE6-1649-BD685CED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42D260-B4E2-4BD4-BF79-143FA49F00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9795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D813D-6730-290D-C204-0411D7D1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845EBC-7504-67A7-461A-8D60D50CB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7F77A9-FB11-D0A4-7D68-0FB7874C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9C330-6190-3825-D53B-340A81C6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370A0D-5FCA-3A61-E646-5544EAED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C0C82-AB97-4BB1-B1AA-8E6CC1ECC6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3075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7B585-9C42-9C5E-C836-2BAE0E0A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025" y="8207375"/>
            <a:ext cx="37857113" cy="1369218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910FFC-0FC8-BC4D-B710-4CB8AFF8F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025" y="22029738"/>
            <a:ext cx="37857113" cy="72009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5B9832-9129-98C4-1D07-DB4A126A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614DE-C53D-DEC4-87D3-EB659CA0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CE0C2A-D283-1016-6E1D-A01BB0DC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23A1BA-446D-4F80-9059-6C4AC43DF8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63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18EA9-4061-F5E0-DC81-90DBCF3F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3FBD4-D757-E5AA-EDE2-E93B4755F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90888" y="9510713"/>
            <a:ext cx="18578512" cy="19750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6CDEE3-AA3B-182D-349E-4884B21D8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21800" y="9510713"/>
            <a:ext cx="18578513" cy="19750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B59191-86D9-EF7F-2566-B2E9CECF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090595-F030-C0AE-106D-8A792A090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35A18F-4C1D-A82A-C5CA-9E52F10E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C6333A-D91B-4162-A645-FA234A7D95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429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426C2-629D-51F8-6F24-18FAF5D7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600" y="1752600"/>
            <a:ext cx="37857113" cy="6362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AA05A9-8EE1-7C3B-A5E0-3A66DBD58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2600" y="8069263"/>
            <a:ext cx="18568988" cy="39544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41562F-6DCA-2066-0226-3B524DC28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2600" y="12023725"/>
            <a:ext cx="18568988" cy="17686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BEA066-B6AA-36D1-040E-6BBDC8D22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20238" y="8069263"/>
            <a:ext cx="18659475" cy="39544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6906D1-6AB7-400F-A761-38DF05829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20238" y="12023725"/>
            <a:ext cx="18659475" cy="17686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E73591-CFFD-EA0D-0D27-E43A5661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579B8D-E2B3-99E4-EA29-61C4FE7DC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235CAC-3E16-57C2-A4CB-7200B0BE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4A8BB3-92A6-45DD-B6A3-8CA5D228A6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812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EE9A6-3E5D-4310-8F50-50D0542C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5A768C-0D17-ADAF-4A7C-7FDEC149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89E3FB-4AD7-3503-0BE9-24A62196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C9DD78-4F96-9436-3BFB-D6CAB53D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19EAF0-5485-4F51-BDDA-6F05EF975F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2482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861FF0-65FB-E437-5382-00373D40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83AE70-F3AB-443F-6AA5-4E4DECEE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89B81-C251-C25E-F348-38300268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84A671-AA50-4D99-9579-F2E294B45A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016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34768-037E-3AEF-50FE-6A23A9B9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600" y="2193925"/>
            <a:ext cx="14157325" cy="76819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20676-880C-ED99-A64D-B8729A94D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5" y="4740275"/>
            <a:ext cx="22220238" cy="23393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9ABCAE-0B07-95CF-402C-83DFE1A24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2600" y="9875838"/>
            <a:ext cx="14157325" cy="182959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59E294-C892-77B1-2CF5-F87C0F5E0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595C09-E1A9-3D38-CEE0-7CA4F7D0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5F207A-A163-C60C-58F4-6AEDDED3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FD10D8-8AF3-494F-B9CD-8F0A857F4E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1974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8231B-B9B1-652A-056E-DF22E031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600" y="2193925"/>
            <a:ext cx="14157325" cy="76819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3D5E4E-E4D7-0A32-C37C-38B4BA8CA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5" y="4740275"/>
            <a:ext cx="22220238" cy="23393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AB928B-0D67-ADB3-9152-7ED565F7F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2600" y="9875838"/>
            <a:ext cx="14157325" cy="182959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C7AB62-97FF-5C02-FF6A-F8574204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66CE3A-F1B3-A66B-F949-6A38D4CB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4EC4AC-4BE8-52EC-FE02-6BADA3DD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07C00A-2515-495C-AF9E-A0EA946A08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07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2FE39-2EA1-3D50-FA04-85796C38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DEC7F4-FD9F-0476-A6CA-A654D71D3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1A61A8-5D7A-41CF-AF8B-C5126CC4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5CCC9F-EC49-582A-390F-8059745F2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711D9A-4217-8F8D-8D10-6E1B58D3C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AD9F1-4604-4562-BAAD-EEF856D5EB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5279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BAFD15-3498-1BDC-A6CA-F1B5F429F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273750" y="2927350"/>
            <a:ext cx="9326563" cy="263334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F000C1-1EFC-609D-CEC8-D537364B7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90888" y="2927350"/>
            <a:ext cx="27830462" cy="26333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E5B5FF-FE04-4C14-5EC1-F8F75637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430A3A-6BC0-D028-C8E4-5DB533196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74529F-D273-C8F7-A7DF-F58A45D4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C49C22-D8A9-4B50-9305-7E6C1815019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909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0B39F03-F376-C978-4BF9-7206F850E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90888" y="2927350"/>
            <a:ext cx="3730942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3" tIns="219451" rIns="438903" bIns="21945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BC0CA8-754C-A427-6975-A0431B7BE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90888" y="9510713"/>
            <a:ext cx="37309425" cy="1975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3" tIns="219451" rIns="438903" bIns="2194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0223698-7D75-55B5-F176-730955B350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0888" y="29992638"/>
            <a:ext cx="9144000" cy="219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3" tIns="219451" rIns="438903" bIns="219451" numCol="1" anchor="t" anchorCtr="0" compatLnSpc="1">
            <a:prstTxWarp prst="textNoShape">
              <a:avLst/>
            </a:prstTxWarp>
          </a:bodyPr>
          <a:lstStyle>
            <a:lvl1pPr defTabSz="4389438">
              <a:defRPr sz="67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23D661-81E1-2DF2-B886-16898E3218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7113" y="29992638"/>
            <a:ext cx="13896975" cy="219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3" tIns="219451" rIns="438903" bIns="219451" numCol="1" anchor="t" anchorCtr="0" compatLnSpc="1">
            <a:prstTxWarp prst="textNoShape">
              <a:avLst/>
            </a:prstTxWarp>
          </a:bodyPr>
          <a:lstStyle>
            <a:lvl1pPr algn="ctr" defTabSz="4389438">
              <a:defRPr sz="67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7BB60F4-57C3-B949-2510-74A75BE1655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6313" y="29992638"/>
            <a:ext cx="9144000" cy="219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3" tIns="219451" rIns="438903" bIns="219451" numCol="1" anchor="t" anchorCtr="0" compatLnSpc="1">
            <a:prstTxWarp prst="textNoShape">
              <a:avLst/>
            </a:prstTxWarp>
          </a:bodyPr>
          <a:lstStyle>
            <a:lvl1pPr algn="r" defTabSz="4389438">
              <a:defRPr sz="6700">
                <a:ea typeface="宋体" panose="02010600030101010101" pitchFamily="2" charset="-122"/>
              </a:defRPr>
            </a:lvl1pPr>
          </a:lstStyle>
          <a:p>
            <a:fld id="{F3586596-4995-481A-8274-1BAEE2EB650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438" rtl="0" fontAlgn="base">
        <a:spcBef>
          <a:spcPct val="0"/>
        </a:spcBef>
        <a:spcAft>
          <a:spcPct val="0"/>
        </a:spcAft>
        <a:defRPr sz="211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Times New Roman" panose="02020603050405020304" pitchFamily="18" charset="0"/>
        </a:defRPr>
      </a:lvl2pPr>
      <a:lvl3pPr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Times New Roman" panose="02020603050405020304" pitchFamily="18" charset="0"/>
        </a:defRPr>
      </a:lvl3pPr>
      <a:lvl4pPr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Times New Roman" panose="02020603050405020304" pitchFamily="18" charset="0"/>
        </a:defRPr>
      </a:lvl4pPr>
      <a:lvl5pPr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4389438" rtl="0" fontAlgn="base">
        <a:spcBef>
          <a:spcPct val="0"/>
        </a:spcBef>
        <a:spcAft>
          <a:spcPct val="0"/>
        </a:spcAft>
        <a:defRPr sz="211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646238" indent="-1646238" algn="l" defTabSz="4389438" rtl="0" fontAlgn="base">
        <a:spcBef>
          <a:spcPct val="20000"/>
        </a:spcBef>
        <a:spcAft>
          <a:spcPct val="0"/>
        </a:spcAft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7113" indent="-1373188" algn="l" defTabSz="4389438" rtl="0" fontAlgn="base">
        <a:spcBef>
          <a:spcPct val="20000"/>
        </a:spcBef>
        <a:spcAft>
          <a:spcPct val="0"/>
        </a:spcAft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7988" indent="-1098550" algn="l" defTabSz="4389438" rtl="0" fontAlgn="base">
        <a:spcBef>
          <a:spcPct val="20000"/>
        </a:spcBef>
        <a:spcAft>
          <a:spcPct val="0"/>
        </a:spcAft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325" indent="-1096963" algn="l" defTabSz="4389438" rtl="0" fontAlgn="base">
        <a:spcBef>
          <a:spcPct val="20000"/>
        </a:spcBef>
        <a:spcAft>
          <a:spcPct val="0"/>
        </a:spcAft>
        <a:buChar char="–"/>
        <a:defRPr sz="9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4250" indent="-1095375" algn="l" defTabSz="4389438" rtl="0" fontAlgn="base">
        <a:spcBef>
          <a:spcPct val="20000"/>
        </a:spcBef>
        <a:spcAft>
          <a:spcPct val="0"/>
        </a:spcAft>
        <a:buChar char="»"/>
        <a:defRPr sz="9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3F523EB3-BC09-9A06-25AD-CFAA41C87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3891200" cy="3291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608A2B6-83B5-570C-6E59-B0C72F15B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1485900"/>
            <a:ext cx="41148000" cy="46815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128016" tIns="64008" rIns="128016" bIns="64008" anchor="ctr"/>
          <a:lstStyle>
            <a:lvl1pPr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92087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560638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CN" altLang="zh-CN" sz="3400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3520A50-2B6A-FB4E-E4D4-6DC2A5C37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7531" y="1754370"/>
            <a:ext cx="32993012" cy="3668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8016" tIns="64008" rIns="128016" bIns="64008">
            <a:spAutoFit/>
          </a:bodyPr>
          <a:lstStyle>
            <a:lvl1pPr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92087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560638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zh-CN" altLang="zh-CN" sz="11500" dirty="0">
                <a:latin typeface="Georgia" panose="02040502050405020303" pitchFamily="18" charset="0"/>
              </a:rPr>
              <a:t>Driving Dipoles: Custom </a:t>
            </a:r>
            <a:r>
              <a:rPr lang="en-US" altLang="zh-CN" sz="11500" dirty="0">
                <a:latin typeface="Georgia" panose="02040502050405020303" pitchFamily="18" charset="0"/>
              </a:rPr>
              <a:t>Bipolar </a:t>
            </a:r>
            <a:r>
              <a:rPr lang="zh-CN" altLang="zh-CN" sz="11500" dirty="0">
                <a:latin typeface="Georgia" panose="02040502050405020303" pitchFamily="18" charset="0"/>
              </a:rPr>
              <a:t>BJT Array for AMO Physics</a:t>
            </a:r>
            <a:endParaRPr lang="en-US" altLang="zh-CN" sz="4000" dirty="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5B65A0F-9832-01C5-AF63-360D600F5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3426" y="7315200"/>
            <a:ext cx="19433058" cy="23431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DC3C5A94-1443-E275-3B38-538A23639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2926" y="7315200"/>
            <a:ext cx="10074274" cy="23431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8016" tIns="64008" rIns="128016" bIns="64008" anchor="ctr"/>
          <a:lstStyle>
            <a:lvl1pPr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92087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560638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zh-CN" altLang="zh-CN" sz="3400"/>
          </a:p>
        </p:txBody>
      </p:sp>
      <p:sp>
        <p:nvSpPr>
          <p:cNvPr id="2059" name="Line 11">
            <a:extLst>
              <a:ext uri="{FF2B5EF4-FFF2-40B4-BE49-F238E27FC236}">
                <a16:creationId xmlns:a16="http://schemas.microsoft.com/office/drawing/2014/main" id="{4263BBE3-F09D-38FA-6087-1BAE48616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8834" y="27341579"/>
            <a:ext cx="903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1" name="Text Box 13">
            <a:extLst>
              <a:ext uri="{FF2B5EF4-FFF2-40B4-BE49-F238E27FC236}">
                <a16:creationId xmlns:a16="http://schemas.microsoft.com/office/drawing/2014/main" id="{9F194C45-F735-117B-68C8-B37CEB98A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1291" y="27276705"/>
            <a:ext cx="7015162" cy="1147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8016" tIns="64008" rIns="128016" bIns="64008">
            <a:spAutoFit/>
          </a:bodyPr>
          <a:lstStyle>
            <a:lvl1pPr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92087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560638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6700" dirty="0">
                <a:ea typeface="宋体" panose="02010600030101010101" pitchFamily="2" charset="-122"/>
              </a:rPr>
              <a:t>Acknowledgements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4CDD4FB5-B4AC-95AB-3CDE-551864750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1" y="7315200"/>
            <a:ext cx="10252073" cy="23431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  <a:softEdge rad="0"/>
          </a:effectLst>
        </p:spPr>
        <p:txBody>
          <a:bodyPr wrap="none" lIns="179222" tIns="89611" rIns="179222" bIns="89611" anchor="t"/>
          <a:lstStyle>
            <a:lvl1pPr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7952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920875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560638" defTabSz="12795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zh-CN" sz="4400" dirty="0"/>
          </a:p>
        </p:txBody>
      </p:sp>
      <p:pic>
        <p:nvPicPr>
          <p:cNvPr id="2066" name="Picture 18">
            <a:extLst>
              <a:ext uri="{FF2B5EF4-FFF2-40B4-BE49-F238E27FC236}">
                <a16:creationId xmlns:a16="http://schemas.microsoft.com/office/drawing/2014/main" id="{38B907AE-E8FC-33AD-8914-080D90A62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14600"/>
            <a:ext cx="7392988" cy="290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9731715-795F-1CE4-689A-7F56914A75C0}"/>
              </a:ext>
            </a:extLst>
          </p:cNvPr>
          <p:cNvSpPr txBox="1"/>
          <p:nvPr/>
        </p:nvSpPr>
        <p:spPr>
          <a:xfrm>
            <a:off x="1556686" y="8677448"/>
            <a:ext cx="976124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/>
              <a:t>Research into highly dipolar quantum systems relies on precise manipulation of magnetic fields. These sensitive AMO experiments require coil drivers delivering low electrical noise and rapid</a:t>
            </a:r>
            <a:r>
              <a:rPr lang="en-US" altLang="zh-CN" sz="3200" dirty="0"/>
              <a:t> </a:t>
            </a:r>
            <a:r>
              <a:rPr lang="zh-CN" altLang="zh-CN" sz="3200" dirty="0"/>
              <a:t>responses. Traditional drivers introduce crossover de</a:t>
            </a:r>
            <a:r>
              <a:rPr lang="en-US" altLang="zh-CN" sz="3200" dirty="0" err="1"/>
              <a:t>adband</a:t>
            </a:r>
            <a:r>
              <a:rPr lang="en-US" altLang="zh-CN" sz="3200" dirty="0"/>
              <a:t> and switching deadtime or are just unipolar</a:t>
            </a:r>
            <a:r>
              <a:rPr lang="zh-CN" altLang="zh-CN" sz="3200" dirty="0"/>
              <a:t>. To address this, we present a custom high-power linear current driver engineered for zero-deadband closed-loop control. Our design features a parallel array of ten high-power BJTs with active thermal management. By tuning </a:t>
            </a:r>
            <a:r>
              <a:rPr lang="en-US" altLang="zh-CN" sz="3200" dirty="0"/>
              <a:t>the bias Class AB bias voltage </a:t>
            </a:r>
            <a:r>
              <a:rPr lang="zh-CN" altLang="zh-CN" sz="3200" dirty="0"/>
              <a:t>to maintain a microscopic quiescent current, the output stage is kept strictly on the bleeding edge of conduction. This eliminates the zero-crossing gap without generating excessive idle heat</a:t>
            </a:r>
            <a:r>
              <a:rPr lang="en-US" altLang="zh-CN" sz="3200" dirty="0"/>
              <a:t> and injecting noise.</a:t>
            </a:r>
            <a:endParaRPr lang="zh-CN" altLang="en-US" sz="3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2E87FC-82E6-C3D6-459F-861F4E1A7F30}"/>
              </a:ext>
            </a:extLst>
          </p:cNvPr>
          <p:cNvSpPr txBox="1"/>
          <p:nvPr/>
        </p:nvSpPr>
        <p:spPr>
          <a:xfrm>
            <a:off x="1556686" y="7654076"/>
            <a:ext cx="3689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/>
              <a:t>Abstract</a:t>
            </a:r>
            <a:endParaRPr lang="zh-CN" altLang="en-US" sz="6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2015BD-F01E-D512-BE27-27424E288B4A}"/>
              </a:ext>
            </a:extLst>
          </p:cNvPr>
          <p:cNvSpPr txBox="1"/>
          <p:nvPr/>
        </p:nvSpPr>
        <p:spPr>
          <a:xfrm>
            <a:off x="1524000" y="15477107"/>
            <a:ext cx="7791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6000" dirty="0"/>
              <a:t>Legacy Hardware</a:t>
            </a:r>
            <a:endParaRPr lang="zh-CN" altLang="en-US" sz="6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850226E-8C93-3B05-9EB2-841E8059B360}"/>
                  </a:ext>
                </a:extLst>
              </p:cNvPr>
              <p:cNvSpPr txBox="1"/>
              <p:nvPr/>
            </p:nvSpPr>
            <p:spPr>
              <a:xfrm>
                <a:off x="1524000" y="23593884"/>
                <a:ext cx="9761242" cy="6740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zh-CN" sz="3600" b="1" dirty="0"/>
                  <a:t>Commercial: Delta Elektronika ES 15-010</a:t>
                </a:r>
                <a:endParaRPr lang="zh-CN" altLang="zh-CN" sz="3600" dirty="0"/>
              </a:p>
              <a:p>
                <a:pPr lvl="1"/>
                <a:r>
                  <a:rPr lang="zh-CN" altLang="zh-CN" sz="3600" b="1" dirty="0"/>
                  <a:t>Operation:</a:t>
                </a:r>
                <a:r>
                  <a:rPr lang="zh-CN" altLang="zh-CN" sz="3600" dirty="0"/>
                  <a:t> Utilized in Constant Current (CC) mode.</a:t>
                </a:r>
              </a:p>
              <a:p>
                <a:pPr lvl="1"/>
                <a:r>
                  <a:rPr lang="zh-CN" altLang="zh-CN" sz="3600" b="1" dirty="0"/>
                  <a:t>Flaw 1 (Noise):</a:t>
                </a:r>
                <a:r>
                  <a:rPr lang="zh-CN" altLang="zh-CN" sz="3600" dirty="0"/>
                  <a:t> Introduces </a:t>
                </a:r>
                <a14:m>
                  <m:oMath xmlns:m="http://schemas.openxmlformats.org/officeDocument/2006/math">
                    <m:r>
                      <a:rPr lang="zh-CN" altLang="en-US" sz="3600"/>
                      <m:t>≈1.5</m:t>
                    </m:r>
                    <m:r>
                      <a:rPr lang="zh-CN" altLang="en-US" sz="3600" i="1"/>
                      <m:t>𝑚𝐴</m:t>
                    </m:r>
                  </m:oMath>
                </a14:m>
                <a:r>
                  <a:rPr lang="en-US" altLang="zh-CN" sz="3600" dirty="0"/>
                  <a:t> noise</a:t>
                </a:r>
                <a:endParaRPr lang="zh-CN" altLang="zh-CN" sz="3600" dirty="0"/>
              </a:p>
              <a:p>
                <a:pPr lvl="1"/>
                <a:r>
                  <a:rPr lang="zh-CN" altLang="zh-CN" sz="3600" b="1" dirty="0"/>
                  <a:t>Flaw 2 (Topology):</a:t>
                </a:r>
                <a:r>
                  <a:rPr lang="zh-CN" altLang="zh-CN" sz="3600" dirty="0"/>
                  <a:t> Strictly non-bipolar output.</a:t>
                </a:r>
              </a:p>
              <a:p>
                <a:pPr lvl="0"/>
                <a:r>
                  <a:rPr lang="zh-CN" altLang="zh-CN" sz="3600" b="1" dirty="0"/>
                  <a:t>Previous Design (MOSFET H-Bridge)</a:t>
                </a:r>
                <a:endParaRPr lang="zh-CN" altLang="zh-CN" sz="3600" dirty="0"/>
              </a:p>
              <a:p>
                <a:pPr lvl="1"/>
                <a:r>
                  <a:rPr lang="zh-CN" altLang="zh-CN" sz="3600" b="1" dirty="0"/>
                  <a:t>Operation:</a:t>
                </a:r>
                <a:r>
                  <a:rPr lang="zh-CN" altLang="zh-CN" sz="3600" dirty="0"/>
                  <a:t> A single-MOSFET architecture utilizing an H-bridge to achieve polarity reversal.</a:t>
                </a:r>
              </a:p>
              <a:p>
                <a:pPr lvl="1"/>
                <a:r>
                  <a:rPr lang="zh-CN" altLang="zh-CN" sz="3600" b="1" dirty="0"/>
                  <a:t>Flaw 1 (Drive Strength):</a:t>
                </a:r>
                <a:r>
                  <a:rPr lang="zh-CN" altLang="zh-CN" sz="3600" dirty="0"/>
                  <a:t> Lacks gate buffer</a:t>
                </a:r>
              </a:p>
              <a:p>
                <a:pPr lvl="1"/>
                <a:r>
                  <a:rPr lang="zh-CN" altLang="zh-CN" sz="3600" b="1" dirty="0"/>
                  <a:t>Flaw 2 (Topology):</a:t>
                </a:r>
                <a:r>
                  <a:rPr lang="zh-CN" altLang="zh-CN" sz="3600" dirty="0"/>
                  <a:t> The H-bridge inherently introduces crossover switching delays, voltage spikes, and a prominent zero-crossing deadband.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850226E-8C93-3B05-9EB2-841E8059B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3593884"/>
                <a:ext cx="9761242" cy="6740307"/>
              </a:xfrm>
              <a:prstGeom prst="rect">
                <a:avLst/>
              </a:prstGeom>
              <a:blipFill>
                <a:blip r:embed="rId3"/>
                <a:stretch>
                  <a:fillRect l="-1874" t="-1447" r="-874" b="-2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A3DC6ABF-5403-2070-AADA-1DCDF62B9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63585" y="15538998"/>
            <a:ext cx="6676988" cy="89026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5EC52B2-AF6C-D199-E245-8AC35FE49D4A}"/>
              </a:ext>
            </a:extLst>
          </p:cNvPr>
          <p:cNvSpPr txBox="1"/>
          <p:nvPr/>
        </p:nvSpPr>
        <p:spPr>
          <a:xfrm>
            <a:off x="16412496" y="7686838"/>
            <a:ext cx="109749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/>
              <a:t>BJT Array Driver circuit</a:t>
            </a:r>
            <a:endParaRPr lang="zh-CN" altLang="en-US" sz="6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2CAE3AE-6B61-FFED-EC1C-A0E481308923}"/>
              </a:ext>
            </a:extLst>
          </p:cNvPr>
          <p:cNvSpPr txBox="1"/>
          <p:nvPr/>
        </p:nvSpPr>
        <p:spPr>
          <a:xfrm>
            <a:off x="13631492" y="9710805"/>
            <a:ext cx="151879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b="1" dirty="0"/>
              <a:t>Output current</a:t>
            </a:r>
            <a:r>
              <a:rPr lang="en-US" altLang="zh-CN" dirty="0"/>
              <a:t> based on </a:t>
            </a:r>
            <a:r>
              <a:rPr lang="en-US" altLang="zh-CN" b="1" dirty="0"/>
              <a:t>drive command</a:t>
            </a:r>
            <a:r>
              <a:rPr lang="en-US" altLang="zh-CN" dirty="0"/>
              <a:t> signal through linear mapping from continuous -10V to +10V command</a:t>
            </a:r>
          </a:p>
          <a:p>
            <a:pPr marL="457200" indent="-457200">
              <a:buAutoNum type="arabicPeriod"/>
            </a:pPr>
            <a:r>
              <a:rPr lang="en-US" altLang="zh-CN" b="1" dirty="0"/>
              <a:t>Feedback</a:t>
            </a:r>
            <a:r>
              <a:rPr lang="en-US" altLang="zh-CN" dirty="0"/>
              <a:t> induced current from the immediate </a:t>
            </a:r>
            <a:r>
              <a:rPr lang="en-US" altLang="zh-CN" b="1" dirty="0"/>
              <a:t>drive command</a:t>
            </a:r>
            <a:endParaRPr lang="zh-CN" altLang="en-US" b="1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C13C389-F9CB-2480-778A-132999CAC59E}"/>
              </a:ext>
            </a:extLst>
          </p:cNvPr>
          <p:cNvSpPr txBox="1"/>
          <p:nvPr/>
        </p:nvSpPr>
        <p:spPr>
          <a:xfrm>
            <a:off x="12837653" y="8426724"/>
            <a:ext cx="7791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/>
              <a:t>Role</a:t>
            </a:r>
            <a:endParaRPr lang="zh-CN" altLang="en-US" sz="6000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7DF121F4-99D5-3A39-C496-4A498FDA6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42876" y="16885948"/>
            <a:ext cx="18289346" cy="753969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DBF126F6-2CAA-431E-5618-77DA5586B6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7653" y="24431193"/>
            <a:ext cx="10619593" cy="4257440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C532C15A-D797-9D06-0289-BEC2E5F492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40193" y="11738559"/>
            <a:ext cx="8409949" cy="4709071"/>
          </a:xfrm>
          <a:prstGeom prst="rect">
            <a:avLst/>
          </a:prstGeom>
        </p:spPr>
      </p:pic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FED25216-888A-15BC-E72D-A448A24763CE}"/>
              </a:ext>
            </a:extLst>
          </p:cNvPr>
          <p:cNvSpPr/>
          <p:nvPr/>
        </p:nvSpPr>
        <p:spPr bwMode="auto">
          <a:xfrm>
            <a:off x="13145888" y="13122291"/>
            <a:ext cx="2127230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Op-Amp Buffer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6061164-7099-6960-EF83-DDD65C90576C}"/>
              </a:ext>
            </a:extLst>
          </p:cNvPr>
          <p:cNvSpPr txBox="1"/>
          <p:nvPr/>
        </p:nvSpPr>
        <p:spPr>
          <a:xfrm>
            <a:off x="12766323" y="12043743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Drive Command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3C0DBE8-218B-4C15-06AA-159845B4DF44}"/>
              </a:ext>
            </a:extLst>
          </p:cNvPr>
          <p:cNvSpPr txBox="1"/>
          <p:nvPr/>
        </p:nvSpPr>
        <p:spPr>
          <a:xfrm>
            <a:off x="12800413" y="10414454"/>
            <a:ext cx="89232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/>
              <a:t>Architecture</a:t>
            </a:r>
            <a:endParaRPr lang="zh-CN" altLang="en-US" sz="6000" dirty="0"/>
          </a:p>
        </p:txBody>
      </p:sp>
      <p:cxnSp>
        <p:nvCxnSpPr>
          <p:cNvPr id="2048" name="直接箭头连接符 2047">
            <a:extLst>
              <a:ext uri="{FF2B5EF4-FFF2-40B4-BE49-F238E27FC236}">
                <a16:creationId xmlns:a16="http://schemas.microsoft.com/office/drawing/2014/main" id="{09FEC656-3236-C100-C1DB-20BB8EE0BBD9}"/>
              </a:ext>
            </a:extLst>
          </p:cNvPr>
          <p:cNvCxnSpPr/>
          <p:nvPr/>
        </p:nvCxnSpPr>
        <p:spPr bwMode="auto">
          <a:xfrm>
            <a:off x="14196170" y="12545076"/>
            <a:ext cx="0" cy="501472"/>
          </a:xfrm>
          <a:prstGeom prst="straightConnector1">
            <a:avLst/>
          </a:prstGeom>
          <a:solidFill>
            <a:schemeClr val="accent1"/>
          </a:solidFill>
          <a:ln w="730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9" name="直接箭头连接符 2048">
            <a:extLst>
              <a:ext uri="{FF2B5EF4-FFF2-40B4-BE49-F238E27FC236}">
                <a16:creationId xmlns:a16="http://schemas.microsoft.com/office/drawing/2014/main" id="{3A640787-8439-82B3-F25A-717BD0BC2C83}"/>
              </a:ext>
            </a:extLst>
          </p:cNvPr>
          <p:cNvCxnSpPr/>
          <p:nvPr/>
        </p:nvCxnSpPr>
        <p:spPr bwMode="auto">
          <a:xfrm rot="5400000">
            <a:off x="13926170" y="14430696"/>
            <a:ext cx="540000" cy="0"/>
          </a:xfrm>
          <a:prstGeom prst="straightConnector1">
            <a:avLst/>
          </a:prstGeom>
          <a:solidFill>
            <a:schemeClr val="accent1"/>
          </a:solidFill>
          <a:ln w="730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0" name="矩形: 圆角 2049">
            <a:extLst>
              <a:ext uri="{FF2B5EF4-FFF2-40B4-BE49-F238E27FC236}">
                <a16:creationId xmlns:a16="http://schemas.microsoft.com/office/drawing/2014/main" id="{D40B150D-3FDB-C0C3-45DD-16A600614BA4}"/>
              </a:ext>
            </a:extLst>
          </p:cNvPr>
          <p:cNvSpPr/>
          <p:nvPr/>
        </p:nvSpPr>
        <p:spPr bwMode="auto">
          <a:xfrm>
            <a:off x="12960125" y="14753284"/>
            <a:ext cx="2472090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Command Splitter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2056" name="直接箭头连接符 2055">
            <a:extLst>
              <a:ext uri="{FF2B5EF4-FFF2-40B4-BE49-F238E27FC236}">
                <a16:creationId xmlns:a16="http://schemas.microsoft.com/office/drawing/2014/main" id="{BED5B548-E5E2-896E-22E8-424F339F8995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72598" y="12985755"/>
            <a:ext cx="598601" cy="2316996"/>
          </a:xfrm>
          <a:prstGeom prst="straightConnector1">
            <a:avLst/>
          </a:prstGeom>
          <a:solidFill>
            <a:schemeClr val="accent1"/>
          </a:solidFill>
          <a:ln w="730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0" name="直接箭头连接符 2059">
            <a:extLst>
              <a:ext uri="{FF2B5EF4-FFF2-40B4-BE49-F238E27FC236}">
                <a16:creationId xmlns:a16="http://schemas.microsoft.com/office/drawing/2014/main" id="{F0F7F5DE-ADB5-B8FF-84D7-1F3FFA980A0F}"/>
              </a:ext>
            </a:extLst>
          </p:cNvPr>
          <p:cNvCxnSpPr>
            <a:cxnSpLocks/>
          </p:cNvCxnSpPr>
          <p:nvPr/>
        </p:nvCxnSpPr>
        <p:spPr bwMode="auto">
          <a:xfrm>
            <a:off x="15543264" y="15667684"/>
            <a:ext cx="469941" cy="178131"/>
          </a:xfrm>
          <a:prstGeom prst="straightConnector1">
            <a:avLst/>
          </a:prstGeom>
          <a:solidFill>
            <a:schemeClr val="accent1"/>
          </a:solidFill>
          <a:ln w="730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67" name="矩形: 圆角 2066">
            <a:extLst>
              <a:ext uri="{FF2B5EF4-FFF2-40B4-BE49-F238E27FC236}">
                <a16:creationId xmlns:a16="http://schemas.microsoft.com/office/drawing/2014/main" id="{71620EFC-DE13-0C73-9CE7-22FDA2993BC5}"/>
              </a:ext>
            </a:extLst>
          </p:cNvPr>
          <p:cNvSpPr/>
          <p:nvPr/>
        </p:nvSpPr>
        <p:spPr bwMode="auto">
          <a:xfrm>
            <a:off x="19633213" y="11738559"/>
            <a:ext cx="3010274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NPN Transistor Bank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068" name="矩形: 圆角 2067">
            <a:extLst>
              <a:ext uri="{FF2B5EF4-FFF2-40B4-BE49-F238E27FC236}">
                <a16:creationId xmlns:a16="http://schemas.microsoft.com/office/drawing/2014/main" id="{CBA14A17-16E0-38B6-53C2-EF8A0FD34EDE}"/>
              </a:ext>
            </a:extLst>
          </p:cNvPr>
          <p:cNvSpPr/>
          <p:nvPr/>
        </p:nvSpPr>
        <p:spPr bwMode="auto">
          <a:xfrm>
            <a:off x="19618681" y="15730666"/>
            <a:ext cx="3010274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PNP Transistor Bank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2069" name="直接箭头连接符 2068">
            <a:extLst>
              <a:ext uri="{FF2B5EF4-FFF2-40B4-BE49-F238E27FC236}">
                <a16:creationId xmlns:a16="http://schemas.microsoft.com/office/drawing/2014/main" id="{BA11E4EF-CE63-CA42-4FA7-4EC02AC13BBE}"/>
              </a:ext>
            </a:extLst>
          </p:cNvPr>
          <p:cNvCxnSpPr>
            <a:cxnSpLocks/>
          </p:cNvCxnSpPr>
          <p:nvPr/>
        </p:nvCxnSpPr>
        <p:spPr bwMode="auto">
          <a:xfrm>
            <a:off x="19141872" y="16200685"/>
            <a:ext cx="442624" cy="17984"/>
          </a:xfrm>
          <a:prstGeom prst="straightConnector1">
            <a:avLst/>
          </a:prstGeom>
          <a:solidFill>
            <a:schemeClr val="accent1"/>
          </a:solidFill>
          <a:ln w="730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1" name="直接箭头连接符 2070">
            <a:extLst>
              <a:ext uri="{FF2B5EF4-FFF2-40B4-BE49-F238E27FC236}">
                <a16:creationId xmlns:a16="http://schemas.microsoft.com/office/drawing/2014/main" id="{69EEA450-85F4-3218-1209-B15289E61A28}"/>
              </a:ext>
            </a:extLst>
          </p:cNvPr>
          <p:cNvCxnSpPr>
            <a:cxnSpLocks/>
          </p:cNvCxnSpPr>
          <p:nvPr/>
        </p:nvCxnSpPr>
        <p:spPr bwMode="auto">
          <a:xfrm>
            <a:off x="19144933" y="12251594"/>
            <a:ext cx="502339" cy="0"/>
          </a:xfrm>
          <a:prstGeom prst="straightConnector1">
            <a:avLst/>
          </a:prstGeom>
          <a:solidFill>
            <a:schemeClr val="accent1"/>
          </a:solidFill>
          <a:ln w="730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72" name="矩形: 圆角 2071">
            <a:extLst>
              <a:ext uri="{FF2B5EF4-FFF2-40B4-BE49-F238E27FC236}">
                <a16:creationId xmlns:a16="http://schemas.microsoft.com/office/drawing/2014/main" id="{6A4E2AD8-D281-63C7-2CA0-AEB83A230E8E}"/>
              </a:ext>
            </a:extLst>
          </p:cNvPr>
          <p:cNvSpPr/>
          <p:nvPr/>
        </p:nvSpPr>
        <p:spPr bwMode="auto">
          <a:xfrm>
            <a:off x="19998732" y="13695991"/>
            <a:ext cx="2127230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Coil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2075" name="直接箭头连接符 2074">
            <a:extLst>
              <a:ext uri="{FF2B5EF4-FFF2-40B4-BE49-F238E27FC236}">
                <a16:creationId xmlns:a16="http://schemas.microsoft.com/office/drawing/2014/main" id="{DF9E0249-6DDD-99E2-7037-9724FBE1B7FF}"/>
              </a:ext>
            </a:extLst>
          </p:cNvPr>
          <p:cNvCxnSpPr>
            <a:cxnSpLocks/>
          </p:cNvCxnSpPr>
          <p:nvPr/>
        </p:nvCxnSpPr>
        <p:spPr bwMode="auto">
          <a:xfrm flipV="1">
            <a:off x="21035088" y="14823927"/>
            <a:ext cx="11929" cy="764286"/>
          </a:xfrm>
          <a:prstGeom prst="straightConnector1">
            <a:avLst/>
          </a:prstGeom>
          <a:solidFill>
            <a:schemeClr val="accent1"/>
          </a:solidFill>
          <a:ln w="730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7" name="直接箭头连接符 2076">
            <a:extLst>
              <a:ext uri="{FF2B5EF4-FFF2-40B4-BE49-F238E27FC236}">
                <a16:creationId xmlns:a16="http://schemas.microsoft.com/office/drawing/2014/main" id="{75F8F4E9-A08D-B2BB-87B0-A2D4FF9FFA02}"/>
              </a:ext>
            </a:extLst>
          </p:cNvPr>
          <p:cNvCxnSpPr>
            <a:cxnSpLocks/>
          </p:cNvCxnSpPr>
          <p:nvPr/>
        </p:nvCxnSpPr>
        <p:spPr bwMode="auto">
          <a:xfrm>
            <a:off x="21023159" y="12789252"/>
            <a:ext cx="11929" cy="764286"/>
          </a:xfrm>
          <a:prstGeom prst="straightConnector1">
            <a:avLst/>
          </a:prstGeom>
          <a:solidFill>
            <a:schemeClr val="accent1"/>
          </a:solidFill>
          <a:ln w="730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82" name="文本框 2081">
            <a:extLst>
              <a:ext uri="{FF2B5EF4-FFF2-40B4-BE49-F238E27FC236}">
                <a16:creationId xmlns:a16="http://schemas.microsoft.com/office/drawing/2014/main" id="{DCE76E42-25F7-1799-46D5-0E5A13DCC20D}"/>
              </a:ext>
            </a:extLst>
          </p:cNvPr>
          <p:cNvSpPr txBox="1"/>
          <p:nvPr/>
        </p:nvSpPr>
        <p:spPr>
          <a:xfrm>
            <a:off x="12837653" y="23998648"/>
            <a:ext cx="941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Circuit Diagram for Op-Amp Buffer, Command Splitter, and EF2 Stage</a:t>
            </a:r>
            <a:endParaRPr lang="zh-CN" altLang="en-US" dirty="0"/>
          </a:p>
        </p:txBody>
      </p:sp>
      <p:sp>
        <p:nvSpPr>
          <p:cNvPr id="2083" name="文本框 2082">
            <a:extLst>
              <a:ext uri="{FF2B5EF4-FFF2-40B4-BE49-F238E27FC236}">
                <a16:creationId xmlns:a16="http://schemas.microsoft.com/office/drawing/2014/main" id="{C0E5BA3A-E285-CDE0-6DFC-3CC73C36A475}"/>
              </a:ext>
            </a:extLst>
          </p:cNvPr>
          <p:cNvSpPr txBox="1"/>
          <p:nvPr/>
        </p:nvSpPr>
        <p:spPr>
          <a:xfrm>
            <a:off x="12800413" y="28688633"/>
            <a:ext cx="941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NPN and PNP Transistor Banks</a:t>
            </a:r>
            <a:endParaRPr lang="zh-CN" altLang="en-US" dirty="0"/>
          </a:p>
        </p:txBody>
      </p:sp>
      <p:sp>
        <p:nvSpPr>
          <p:cNvPr id="2084" name="文本框 2083">
            <a:extLst>
              <a:ext uri="{FF2B5EF4-FFF2-40B4-BE49-F238E27FC236}">
                <a16:creationId xmlns:a16="http://schemas.microsoft.com/office/drawing/2014/main" id="{D9AE3A4A-09BE-54F2-4290-A9CE63AFA33C}"/>
              </a:ext>
            </a:extLst>
          </p:cNvPr>
          <p:cNvSpPr txBox="1"/>
          <p:nvPr/>
        </p:nvSpPr>
        <p:spPr>
          <a:xfrm>
            <a:off x="23831617" y="24863956"/>
            <a:ext cx="76171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Core Components: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OPA455 as input buffer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BD139 configured as a thermally-tracking adjustable </a:t>
            </a:r>
            <a:r>
              <a:rPr lang="en-US" altLang="zh-CN" sz="2800" dirty="0" err="1"/>
              <a:t>Vbe</a:t>
            </a:r>
            <a:r>
              <a:rPr lang="en-US" altLang="zh-CN" sz="2800" dirty="0"/>
              <a:t> multiplier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MJE15032/3 signal buffer before driving main transistor banks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5 MJL21193/4 power BJTs on each polarity for responsive and low heat driving up to 10A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0.22R Ballast resistors to enforce linearity in </a:t>
            </a:r>
            <a:r>
              <a:rPr lang="en-US" altLang="zh-CN" sz="2800" dirty="0" err="1"/>
              <a:t>Vbe</a:t>
            </a:r>
            <a:r>
              <a:rPr lang="en-US" altLang="zh-CN" sz="2800" dirty="0"/>
              <a:t> to Ie and load sharing across BJTs</a:t>
            </a:r>
            <a:endParaRPr lang="zh-CN" altLang="en-US" sz="2800" dirty="0"/>
          </a:p>
        </p:txBody>
      </p:sp>
      <p:sp>
        <p:nvSpPr>
          <p:cNvPr id="2085" name="文本框 2084">
            <a:extLst>
              <a:ext uri="{FF2B5EF4-FFF2-40B4-BE49-F238E27FC236}">
                <a16:creationId xmlns:a16="http://schemas.microsoft.com/office/drawing/2014/main" id="{B9A69C47-A2EA-8785-7DD4-C9265B899008}"/>
              </a:ext>
            </a:extLst>
          </p:cNvPr>
          <p:cNvSpPr txBox="1"/>
          <p:nvPr/>
        </p:nvSpPr>
        <p:spPr>
          <a:xfrm>
            <a:off x="33988536" y="7835581"/>
            <a:ext cx="65527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/>
              <a:t>System Overview</a:t>
            </a:r>
            <a:endParaRPr lang="zh-CN" altLang="en-US" sz="6000" dirty="0"/>
          </a:p>
        </p:txBody>
      </p:sp>
      <p:pic>
        <p:nvPicPr>
          <p:cNvPr id="2087" name="图片 2086">
            <a:extLst>
              <a:ext uri="{FF2B5EF4-FFF2-40B4-BE49-F238E27FC236}">
                <a16:creationId xmlns:a16="http://schemas.microsoft.com/office/drawing/2014/main" id="{FBA7BA8B-6AF2-4D05-8A9D-FF08948FFB7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0009"/>
          <a:stretch>
            <a:fillRect/>
          </a:stretch>
        </p:blipFill>
        <p:spPr>
          <a:xfrm>
            <a:off x="33164669" y="22280902"/>
            <a:ext cx="8200462" cy="47444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88" name="文本框 2087">
                <a:extLst>
                  <a:ext uri="{FF2B5EF4-FFF2-40B4-BE49-F238E27FC236}">
                    <a16:creationId xmlns:a16="http://schemas.microsoft.com/office/drawing/2014/main" id="{6C162814-1195-E60F-18CC-8763EBA93EC9}"/>
                  </a:ext>
                </a:extLst>
              </p:cNvPr>
              <p:cNvSpPr txBox="1"/>
              <p:nvPr/>
            </p:nvSpPr>
            <p:spPr>
              <a:xfrm>
                <a:off x="32511291" y="11537758"/>
                <a:ext cx="9599252" cy="11132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800" b="1" dirty="0">
                    <a:latin typeface="+mj-lt"/>
                  </a:rPr>
                  <a:t>Thermal </a:t>
                </a:r>
                <a:r>
                  <a:rPr lang="zh-CN" altLang="zh-CN" sz="3200" b="1" dirty="0">
                    <a:latin typeface="+mj-lt"/>
                  </a:rPr>
                  <a:t>Stability</a:t>
                </a:r>
                <a:r>
                  <a:rPr lang="zh-CN" altLang="zh-CN" sz="2800" b="1" dirty="0">
                    <a:latin typeface="+mj-lt"/>
                  </a:rPr>
                  <a:t> &amp; Current Sharing</a:t>
                </a:r>
              </a:p>
              <a:p>
                <a:pPr lvl="0"/>
                <a:r>
                  <a:rPr lang="zh-CN" altLang="zh-CN" b="1" dirty="0">
                    <a:latin typeface="+mj-lt"/>
                  </a:rPr>
                  <a:t>Thermal Tracking:</a:t>
                </a:r>
                <a:r>
                  <a:rPr lang="zh-CN" altLang="zh-CN" dirty="0">
                    <a:latin typeface="+mj-lt"/>
                  </a:rPr>
                  <a:t> The </a:t>
                </a:r>
                <a:r>
                  <a:rPr lang="en-US" altLang="zh-CN" dirty="0" err="1">
                    <a:latin typeface="+mj-lt"/>
                  </a:rPr>
                  <a:t>Vbe</a:t>
                </a:r>
                <a:r>
                  <a:rPr lang="en-US" altLang="zh-CN" dirty="0">
                    <a:latin typeface="+mj-lt"/>
                  </a:rPr>
                  <a:t> </a:t>
                </a:r>
                <a:r>
                  <a:rPr lang="zh-CN" altLang="zh-CN" dirty="0">
                    <a:latin typeface="+mj-lt"/>
                  </a:rPr>
                  <a:t>multiplier (Q12) and the parallel output BJTs share a single heatsink.</a:t>
                </a:r>
              </a:p>
              <a:p>
                <a:pPr lvl="0"/>
                <a:r>
                  <a:rPr lang="zh-CN" altLang="zh-CN" b="1" dirty="0">
                    <a:latin typeface="+mj-lt"/>
                  </a:rPr>
                  <a:t>Self-Correction:</a:t>
                </a:r>
                <a:r>
                  <a:rPr lang="zh-CN" altLang="zh-CN" dirty="0">
                    <a:latin typeface="+mj-lt"/>
                  </a:rPr>
                  <a:t> As the output stage heats up, Q12 physically tracks the temperature rise and proportionally lowers the bias voltage.</a:t>
                </a:r>
              </a:p>
              <a:p>
                <a:r>
                  <a:rPr lang="zh-CN" altLang="zh-CN" sz="3200" b="1" dirty="0">
                    <a:latin typeface="+mj-lt"/>
                  </a:rPr>
                  <a:t>Coil Physics &amp; Transient Limits</a:t>
                </a:r>
              </a:p>
              <a:p>
                <a:r>
                  <a:rPr lang="zh-CN" altLang="zh-CN" dirty="0">
                    <a:latin typeface="+mj-lt"/>
                  </a:rPr>
                  <a:t>The system's absolute speed limit is dictated by the Erbium trap coils (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+mj-lt"/>
                      </a:rPr>
                      <m:t>𝑅</m:t>
                    </m:r>
                    <m:r>
                      <a:rPr lang="zh-CN" altLang="en-US">
                        <a:latin typeface="+mj-lt"/>
                      </a:rPr>
                      <m:t>=0.656</m:t>
                    </m:r>
                    <m:r>
                      <m:rPr>
                        <m:sty m:val="p"/>
                      </m:rPr>
                      <a:rPr lang="zh-CN" altLang="en-US">
                        <a:latin typeface="+mj-lt"/>
                      </a:rPr>
                      <m:t>Ω</m:t>
                    </m:r>
                  </m:oMath>
                </a14:m>
                <a:r>
                  <a:rPr lang="zh-CN" altLang="zh-CN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+mj-lt"/>
                      </a:rPr>
                      <m:t>𝐿</m:t>
                    </m:r>
                    <m:r>
                      <a:rPr lang="zh-CN" altLang="en-US">
                        <a:latin typeface="+mj-lt"/>
                      </a:rPr>
                      <m:t>=885.6</m:t>
                    </m:r>
                    <m:r>
                      <a:rPr lang="zh-CN" altLang="en-US" i="1">
                        <a:latin typeface="+mj-lt"/>
                      </a:rPr>
                      <m:t>𝜇</m:t>
                    </m:r>
                    <m:r>
                      <a:rPr lang="zh-CN" altLang="en-US" i="1">
                        <a:latin typeface="+mj-lt"/>
                      </a:rPr>
                      <m:t>𝐻</m:t>
                    </m:r>
                  </m:oMath>
                </a14:m>
                <a:r>
                  <a:rPr lang="zh-CN" altLang="zh-CN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+mj-lt"/>
                      </a:rPr>
                      <m:t>𝜏</m:t>
                    </m:r>
                    <m:r>
                      <a:rPr lang="zh-CN" altLang="en-US">
                        <a:latin typeface="+mj-lt"/>
                      </a:rPr>
                      <m:t>=1.35</m:t>
                    </m:r>
                    <m:r>
                      <m:rPr>
                        <m:nor/>
                      </m:rPr>
                      <a:rPr lang="zh-CN" altLang="en-US"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zh-CN" altLang="en-US">
                        <a:latin typeface="+mj-lt"/>
                      </a:rPr>
                      <m:t>ms</m:t>
                    </m:r>
                  </m:oMath>
                </a14:m>
                <a:r>
                  <a:rPr lang="zh-CN" altLang="zh-CN" dirty="0">
                    <a:latin typeface="+mj-lt"/>
                  </a:rPr>
                  <a:t>). The time (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+mj-lt"/>
                      </a:rPr>
                      <m:t>𝑡</m:t>
                    </m:r>
                  </m:oMath>
                </a14:m>
                <a:r>
                  <a:rPr lang="zh-CN" altLang="zh-CN" dirty="0">
                    <a:latin typeface="+mj-lt"/>
                  </a:rPr>
                  <a:t>) to reach a target current (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+mj-lt"/>
                      </a:rPr>
                      <m:t>𝐼</m:t>
                    </m:r>
                  </m:oMath>
                </a14:m>
                <a:r>
                  <a:rPr lang="zh-CN" altLang="zh-CN" dirty="0">
                    <a:latin typeface="+mj-lt"/>
                  </a:rPr>
                  <a:t>) via a step voltage (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+mj-lt"/>
                      </a:rPr>
                      <m:t>𝑉</m:t>
                    </m:r>
                  </m:oMath>
                </a14:m>
                <a:r>
                  <a:rPr lang="zh-CN" altLang="zh-CN" dirty="0">
                    <a:latin typeface="+mj-lt"/>
                  </a:rPr>
                  <a:t>) is: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+mj-lt"/>
                        </a:rPr>
                        <m:t>𝑡</m:t>
                      </m:r>
                      <m:r>
                        <a:rPr lang="zh-CN" altLang="en-US">
                          <a:latin typeface="+mj-lt"/>
                        </a:rPr>
                        <m:t>=−</m:t>
                      </m:r>
                      <m:r>
                        <a:rPr lang="zh-CN" altLang="en-US" i="1">
                          <a:latin typeface="+mj-lt"/>
                        </a:rPr>
                        <m:t>𝜏</m:t>
                      </m:r>
                      <m:func>
                        <m:funcPr>
                          <m:ctrlPr>
                            <a:rPr lang="zh-CN" altLang="en-US" i="1">
                              <a:latin typeface="+mj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>
                              <a:latin typeface="+mj-lt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latin typeface="+mj-lt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latin typeface="+mj-lt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latin typeface="+mj-lt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latin typeface="+mj-lt"/>
                                    </a:rPr>
                                    <m:t>𝐼</m:t>
                                  </m:r>
                                  <m:r>
                                    <a:rPr lang="zh-CN" altLang="en-US">
                                      <a:latin typeface="+mj-lt"/>
                                    </a:rPr>
                                    <m:t>×</m:t>
                                  </m:r>
                                  <m:r>
                                    <a:rPr lang="zh-CN" altLang="en-US" i="1">
                                      <a:latin typeface="+mj-lt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latin typeface="+mj-lt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dirty="0">
                  <a:latin typeface="+mj-lt"/>
                </a:endParaRPr>
              </a:p>
              <a:p>
                <a:pPr lvl="0"/>
                <a:r>
                  <a:rPr lang="zh-CN" altLang="zh-CN" b="1" dirty="0">
                    <a:latin typeface="+mj-lt"/>
                  </a:rPr>
                  <a:t>Current Setup (15V Rails):</a:t>
                </a:r>
                <a:r>
                  <a:rPr lang="zh-CN" altLang="zh-CN" dirty="0">
                    <a:latin typeface="+mj-lt"/>
                  </a:rPr>
                  <a:t> Due to current power supply limits, the fastest theoretical 5A step is </a:t>
                </a:r>
                <a:r>
                  <a:rPr lang="zh-CN" altLang="zh-CN" b="1" dirty="0">
                    <a:latin typeface="+mj-lt"/>
                  </a:rPr>
                  <a:t>333 µs</a:t>
                </a:r>
                <a:r>
                  <a:rPr lang="zh-CN" altLang="zh-CN" dirty="0">
                    <a:latin typeface="+mj-lt"/>
                  </a:rPr>
                  <a:t>.</a:t>
                </a:r>
              </a:p>
              <a:p>
                <a:pPr lvl="0"/>
                <a:r>
                  <a:rPr lang="zh-CN" altLang="zh-CN" b="1" dirty="0">
                    <a:latin typeface="+mj-lt"/>
                  </a:rPr>
                  <a:t>Design Target (30V Rails):</a:t>
                </a:r>
                <a:r>
                  <a:rPr lang="zh-CN" altLang="zh-CN" dirty="0">
                    <a:latin typeface="+mj-lt"/>
                  </a:rPr>
                  <a:t> Unlocking the full 30V capability will halve this limit to </a:t>
                </a:r>
                <a:r>
                  <a:rPr lang="zh-CN" altLang="zh-CN" b="1" dirty="0">
                    <a:latin typeface="+mj-lt"/>
                  </a:rPr>
                  <a:t>156 µs</a:t>
                </a:r>
                <a:r>
                  <a:rPr lang="zh-CN" altLang="zh-CN" dirty="0">
                    <a:latin typeface="+mj-lt"/>
                  </a:rPr>
                  <a:t>.</a:t>
                </a:r>
              </a:p>
              <a:p>
                <a:r>
                  <a:rPr lang="zh-CN" altLang="zh-CN" sz="3200" b="1" dirty="0">
                    <a:latin typeface="+mj-lt"/>
                  </a:rPr>
                  <a:t>System Bottlenecks &amp; Future Work</a:t>
                </a:r>
              </a:p>
              <a:p>
                <a:r>
                  <a:rPr lang="zh-CN" altLang="zh-CN" dirty="0">
                    <a:latin typeface="+mj-lt"/>
                  </a:rPr>
                  <a:t>The 14-BJT circuit acts purely as low-noise "analog muscle." System performance is now bottlenecked entirely by external factors:</a:t>
                </a:r>
              </a:p>
              <a:p>
                <a:pPr lvl="0"/>
                <a:r>
                  <a:rPr lang="zh-CN" altLang="zh-CN" b="1" dirty="0">
                    <a:latin typeface="+mj-lt"/>
                  </a:rPr>
                  <a:t>Control Resolution:</a:t>
                </a:r>
                <a:r>
                  <a:rPr lang="zh-CN" altLang="zh-CN" dirty="0">
                    <a:latin typeface="+mj-lt"/>
                  </a:rPr>
                  <a:t> The current 100kHz analog PID limits control resolution to 1 mA, well above our 70 µA current-sense noise floor. The microscopic quiescent current tuning also presents a minor resolution boundary.</a:t>
                </a:r>
              </a:p>
              <a:p>
                <a:pPr lvl="0"/>
                <a:r>
                  <a:rPr lang="zh-CN" altLang="zh-CN" b="1" dirty="0">
                    <a:latin typeface="+mj-lt"/>
                  </a:rPr>
                  <a:t>Digital Upgrade:</a:t>
                </a:r>
                <a:r>
                  <a:rPr lang="zh-CN" altLang="zh-CN" dirty="0">
                    <a:latin typeface="+mj-lt"/>
                  </a:rPr>
                  <a:t> Future iterations will transition to an FPGA-based digital controller to maximize bit-depth, precision, and loop speed.</a:t>
                </a:r>
              </a:p>
              <a:p>
                <a:pPr lvl="0"/>
                <a:r>
                  <a:rPr lang="zh-CN" altLang="zh-CN" b="1" dirty="0">
                    <a:latin typeface="+mj-lt"/>
                  </a:rPr>
                  <a:t>Environmental Noise:</a:t>
                </a:r>
                <a:r>
                  <a:rPr lang="zh-CN" altLang="zh-CN" dirty="0">
                    <a:latin typeface="+mj-lt"/>
                  </a:rPr>
                  <a:t> Ambient magnetic field interference from adjacent laboratories is currently the largest error source.</a:t>
                </a:r>
              </a:p>
              <a:p>
                <a:pPr lvl="0"/>
                <a:r>
                  <a:rPr lang="zh-CN" altLang="zh-CN" b="1" dirty="0">
                    <a:latin typeface="+mj-lt"/>
                  </a:rPr>
                  <a:t>Next Steps:</a:t>
                </a:r>
                <a:r>
                  <a:rPr lang="zh-CN" altLang="zh-CN" dirty="0">
                    <a:latin typeface="+mj-lt"/>
                  </a:rPr>
                  <a:t> </a:t>
                </a:r>
                <a:r>
                  <a:rPr lang="en-US" altLang="zh-CN" dirty="0">
                    <a:latin typeface="+mj-lt"/>
                  </a:rPr>
                  <a:t>Active compensation of stray magnetic field and choosing an upgrade</a:t>
                </a:r>
                <a:endParaRPr lang="zh-CN" altLang="zh-CN" dirty="0">
                  <a:latin typeface="+mj-lt"/>
                </a:endParaRPr>
              </a:p>
              <a:p>
                <a:endParaRPr lang="zh-CN" altLang="en-US" dirty="0">
                  <a:latin typeface="+mj-lt"/>
                </a:endParaRPr>
              </a:p>
            </p:txBody>
          </p:sp>
        </mc:Choice>
        <mc:Fallback>
          <p:sp>
            <p:nvSpPr>
              <p:cNvPr id="2088" name="文本框 2087">
                <a:extLst>
                  <a:ext uri="{FF2B5EF4-FFF2-40B4-BE49-F238E27FC236}">
                    <a16:creationId xmlns:a16="http://schemas.microsoft.com/office/drawing/2014/main" id="{6C162814-1195-E60F-18CC-8763EBA93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291" y="11537758"/>
                <a:ext cx="9599252" cy="11132919"/>
              </a:xfrm>
              <a:prstGeom prst="rect">
                <a:avLst/>
              </a:prstGeom>
              <a:blipFill>
                <a:blip r:embed="rId9"/>
                <a:stretch>
                  <a:fillRect l="-1587" t="-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0" name="文本框 2109">
            <a:extLst>
              <a:ext uri="{FF2B5EF4-FFF2-40B4-BE49-F238E27FC236}">
                <a16:creationId xmlns:a16="http://schemas.microsoft.com/office/drawing/2014/main" id="{E0BD1F61-69AC-97E8-0BA6-9274938D62F7}"/>
              </a:ext>
            </a:extLst>
          </p:cNvPr>
          <p:cNvSpPr txBox="1"/>
          <p:nvPr/>
        </p:nvSpPr>
        <p:spPr>
          <a:xfrm>
            <a:off x="32511291" y="28340520"/>
            <a:ext cx="903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i="1" dirty="0"/>
              <a:t>We gratefully acknowledge Professor Jo for their continuous guidance and the Jo lab team for their invaluable collaborative support throughout this research. We also extend a special thanks to Dr. Mithilesh Parit for his </a:t>
            </a:r>
            <a:r>
              <a:rPr lang="en-US" altLang="zh-CN" i="1" dirty="0"/>
              <a:t>work </a:t>
            </a:r>
            <a:r>
              <a:rPr lang="zh-CN" altLang="zh-CN" i="1" dirty="0"/>
              <a:t>to</a:t>
            </a:r>
            <a:r>
              <a:rPr lang="en-US" altLang="zh-CN" i="1" dirty="0"/>
              <a:t> create</a:t>
            </a:r>
            <a:r>
              <a:rPr lang="zh-CN" altLang="zh-CN" i="1" dirty="0"/>
              <a:t> the prototype design.</a:t>
            </a:r>
            <a:endParaRPr lang="zh-CN" altLang="en-US" i="1" dirty="0"/>
          </a:p>
        </p:txBody>
      </p:sp>
      <p:sp>
        <p:nvSpPr>
          <p:cNvPr id="2116" name="文本框 2115">
            <a:extLst>
              <a:ext uri="{FF2B5EF4-FFF2-40B4-BE49-F238E27FC236}">
                <a16:creationId xmlns:a16="http://schemas.microsoft.com/office/drawing/2014/main" id="{5FDCC058-05B0-0D98-89B8-E1FDD34725C8}"/>
              </a:ext>
            </a:extLst>
          </p:cNvPr>
          <p:cNvSpPr txBox="1"/>
          <p:nvPr/>
        </p:nvSpPr>
        <p:spPr>
          <a:xfrm>
            <a:off x="11965663" y="3636607"/>
            <a:ext cx="179220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err="1"/>
              <a:t>Chuwei</a:t>
            </a:r>
            <a:r>
              <a:rPr lang="en-US" altLang="zh-CN" sz="6000" dirty="0"/>
              <a:t> Liao</a:t>
            </a:r>
            <a:r>
              <a:rPr lang="en-US" altLang="zh-CN" sz="6000" baseline="30000" dirty="0"/>
              <a:t>1</a:t>
            </a:r>
            <a:r>
              <a:rPr lang="zh-CN" altLang="zh-CN" sz="6000" dirty="0"/>
              <a:t>, Mithilesh Parit</a:t>
            </a:r>
            <a:r>
              <a:rPr lang="en-US" altLang="zh-CN" sz="6000" baseline="30000" dirty="0"/>
              <a:t>2</a:t>
            </a:r>
            <a:r>
              <a:rPr lang="zh-CN" altLang="zh-CN" sz="6000" dirty="0"/>
              <a:t>, </a:t>
            </a:r>
            <a:r>
              <a:rPr lang="en-US" altLang="zh-CN" sz="6000" dirty="0"/>
              <a:t>Gyu-</a:t>
            </a:r>
            <a:r>
              <a:rPr lang="en-US" altLang="zh-CN" sz="6000" dirty="0" err="1"/>
              <a:t>Boong</a:t>
            </a:r>
            <a:r>
              <a:rPr lang="en-US" altLang="zh-CN" sz="6000" dirty="0"/>
              <a:t> Jo</a:t>
            </a:r>
            <a:r>
              <a:rPr lang="en-US" altLang="zh-CN" sz="6000" baseline="30000" dirty="0"/>
              <a:t>1</a:t>
            </a:r>
          </a:p>
          <a:p>
            <a:r>
              <a:rPr lang="en-US" altLang="zh-CN" sz="4800" i="1" baseline="30000" dirty="0"/>
              <a:t>1</a:t>
            </a:r>
            <a:r>
              <a:rPr lang="zh-CN" altLang="zh-CN" sz="4800" i="1" dirty="0"/>
              <a:t>Department of Physics</a:t>
            </a:r>
            <a:r>
              <a:rPr lang="en-US" altLang="zh-CN" sz="4800" i="1" dirty="0"/>
              <a:t> and Astronomy</a:t>
            </a:r>
            <a:r>
              <a:rPr lang="zh-CN" altLang="zh-CN" sz="4800" i="1" dirty="0"/>
              <a:t>, </a:t>
            </a:r>
            <a:r>
              <a:rPr lang="en-US" altLang="zh-CN" sz="4800" i="1" dirty="0"/>
              <a:t>Rice University</a:t>
            </a:r>
          </a:p>
          <a:p>
            <a:r>
              <a:rPr lang="en-US" altLang="zh-CN" sz="4800" i="1" baseline="30000" dirty="0"/>
              <a:t>2</a:t>
            </a:r>
            <a:r>
              <a:rPr lang="en-US" altLang="zh-CN" sz="4800" i="1" dirty="0"/>
              <a:t>Department of Physics, HKUST</a:t>
            </a:r>
          </a:p>
        </p:txBody>
      </p:sp>
      <p:sp>
        <p:nvSpPr>
          <p:cNvPr id="2120" name="矩形: 圆角 2119">
            <a:extLst>
              <a:ext uri="{FF2B5EF4-FFF2-40B4-BE49-F238E27FC236}">
                <a16:creationId xmlns:a16="http://schemas.microsoft.com/office/drawing/2014/main" id="{8835ED3A-8E9A-5225-FDF3-B55A97C651F2}"/>
              </a:ext>
            </a:extLst>
          </p:cNvPr>
          <p:cNvSpPr/>
          <p:nvPr/>
        </p:nvSpPr>
        <p:spPr bwMode="auto">
          <a:xfrm>
            <a:off x="16013205" y="15728476"/>
            <a:ext cx="3010274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dirty="0"/>
              <a:t>Command – </a:t>
            </a:r>
            <a:r>
              <a:rPr lang="en-US" altLang="zh-CN" dirty="0" err="1"/>
              <a:t>V_Bias</a:t>
            </a:r>
            <a:endParaRPr lang="zh-CN" altLang="en-US" dirty="0"/>
          </a:p>
        </p:txBody>
      </p:sp>
      <p:sp>
        <p:nvSpPr>
          <p:cNvPr id="2121" name="矩形: 圆角 2120">
            <a:extLst>
              <a:ext uri="{FF2B5EF4-FFF2-40B4-BE49-F238E27FC236}">
                <a16:creationId xmlns:a16="http://schemas.microsoft.com/office/drawing/2014/main" id="{A5ECB895-081F-67C9-BA77-8D92CBD1B1F2}"/>
              </a:ext>
            </a:extLst>
          </p:cNvPr>
          <p:cNvSpPr/>
          <p:nvPr/>
        </p:nvSpPr>
        <p:spPr bwMode="auto">
          <a:xfrm>
            <a:off x="16013205" y="11767213"/>
            <a:ext cx="3010274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dirty="0"/>
              <a:t>Command + </a:t>
            </a:r>
            <a:r>
              <a:rPr lang="en-US" altLang="zh-CN" dirty="0" err="1"/>
              <a:t>V_Bias</a:t>
            </a:r>
            <a:endParaRPr lang="zh-CN" altLang="en-US" dirty="0"/>
          </a:p>
        </p:txBody>
      </p:sp>
      <p:pic>
        <p:nvPicPr>
          <p:cNvPr id="2126" name="图片 2125">
            <a:extLst>
              <a:ext uri="{FF2B5EF4-FFF2-40B4-BE49-F238E27FC236}">
                <a16:creationId xmlns:a16="http://schemas.microsoft.com/office/drawing/2014/main" id="{76AC9101-A333-3619-A609-6B852DFA04C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063"/>
          <a:stretch>
            <a:fillRect/>
          </a:stretch>
        </p:blipFill>
        <p:spPr>
          <a:xfrm>
            <a:off x="32655625" y="9013168"/>
            <a:ext cx="9454918" cy="1971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735</Words>
  <Application>Microsoft Office PowerPoint</Application>
  <PresentationFormat>自定义</PresentationFormat>
  <Paragraphs>53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Times New Roman</vt:lpstr>
      <vt:lpstr>Arial</vt:lpstr>
      <vt:lpstr>Letter Gothic</vt:lpstr>
      <vt:lpstr>Default Design</vt:lpstr>
      <vt:lpstr>PowerPoint 演示文稿</vt:lpstr>
    </vt:vector>
  </TitlesOfParts>
  <Company>Cain Project 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Tracy Volz</dc:creator>
  <cp:lastModifiedBy>楚为 廖</cp:lastModifiedBy>
  <cp:revision>82</cp:revision>
  <dcterms:created xsi:type="dcterms:W3CDTF">2000-03-31T17:39:35Z</dcterms:created>
  <dcterms:modified xsi:type="dcterms:W3CDTF">2026-07-30T06:10:30Z</dcterms:modified>
</cp:coreProperties>
</file>